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bff4a9d382482a" /><Relationship Type="http://schemas.openxmlformats.org/officeDocument/2006/relationships/extended-properties" Target="/docProps/app.xml" Id="R82e3ea3bd3f44bb6" /><Relationship Type="http://schemas.openxmlformats.org/officeDocument/2006/relationships/officeDocument" Target="/ppt/presentation.xml" Id="Rd90b1ea030b947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f5fa589e7d47d8"/>
  </p:sldMasterIdLst>
  <p:notesMasterIdLst>
    <p:notesMasterId xmlns:r="http://schemas.openxmlformats.org/officeDocument/2006/relationships" r:id="R82144d90b1ec47fb"/>
  </p:notesMasterIdLst>
  <p:sldIdLst>
    <p:sldId xmlns:r="http://schemas.openxmlformats.org/officeDocument/2006/relationships" id="256" r:id="Re72c3f6f567d414e"/>
    <p:sldId xmlns:r="http://schemas.openxmlformats.org/officeDocument/2006/relationships" id="257" r:id="Rbb5074a790b7466b"/>
    <p:sldId xmlns:r="http://schemas.openxmlformats.org/officeDocument/2006/relationships" id="258" r:id="R9320992481524aaa"/>
    <p:sldId xmlns:r="http://schemas.openxmlformats.org/officeDocument/2006/relationships" id="259" r:id="R3eaa1661dd2c4baa"/>
    <p:sldId xmlns:r="http://schemas.openxmlformats.org/officeDocument/2006/relationships" id="260" r:id="R8ada8a6cc5ac4981"/>
    <p:sldId xmlns:r="http://schemas.openxmlformats.org/officeDocument/2006/relationships" id="261" r:id="R007f0cba7b624d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f5fa589e7d47d8" /><Relationship Type="http://schemas.openxmlformats.org/officeDocument/2006/relationships/theme" Target="/ppt/theme/theme1.xml" Id="Rdd029180eff34055" /><Relationship Type="http://schemas.openxmlformats.org/officeDocument/2006/relationships/notesMaster" Target="/ppt/notesMasters/notesMaster1.xml" Id="R82144d90b1ec47fb" /><Relationship Type="http://schemas.openxmlformats.org/officeDocument/2006/relationships/presProps" Target="/ppt/presProps.xml" Id="Rc57e5ea4708b496f" /><Relationship Type="http://schemas.openxmlformats.org/officeDocument/2006/relationships/viewProps" Target="/ppt/viewProps.xml" Id="Rf688c493a15341fe" /><Relationship Type="http://schemas.openxmlformats.org/officeDocument/2006/relationships/tableStyles" Target="/ppt/tableStyles.xml" Id="R1673870fab3a43c9" /><Relationship Type="http://schemas.openxmlformats.org/officeDocument/2006/relationships/slide" Target="/ppt/slides/slide1.xml" Id="Re72c3f6f567d414e" /><Relationship Type="http://schemas.openxmlformats.org/officeDocument/2006/relationships/slide" Target="/ppt/slides/slide2.xml" Id="Rbb5074a790b7466b" /><Relationship Type="http://schemas.openxmlformats.org/officeDocument/2006/relationships/slide" Target="/ppt/slides/slide3.xml" Id="R9320992481524aaa" /><Relationship Type="http://schemas.openxmlformats.org/officeDocument/2006/relationships/slide" Target="/ppt/slides/slide4.xml" Id="R3eaa1661dd2c4baa" /><Relationship Type="http://schemas.openxmlformats.org/officeDocument/2006/relationships/slide" Target="/ppt/slides/slide5.xml" Id="R8ada8a6cc5ac4981" /><Relationship Type="http://schemas.openxmlformats.org/officeDocument/2006/relationships/slide" Target="/ppt/slides/slide6.xml" Id="R007f0cba7b624d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adca55e52d34c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fedbd235a44b48" /><Relationship Type="http://schemas.openxmlformats.org/officeDocument/2006/relationships/notesMaster" Target="/ppt/notesMasters/notesMaster1.xml" Id="R0afd29ed1a4d4c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3f9b7793b949e9" /><Relationship Type="http://schemas.openxmlformats.org/officeDocument/2006/relationships/notesMaster" Target="/ppt/notesMasters/notesMaster1.xml" Id="R055bee08a0ad49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5db1832a714263" /><Relationship Type="http://schemas.openxmlformats.org/officeDocument/2006/relationships/notesMaster" Target="/ppt/notesMasters/notesMaster1.xml" Id="R3858d98f791f49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865b5455654e3b" /><Relationship Type="http://schemas.openxmlformats.org/officeDocument/2006/relationships/notesMaster" Target="/ppt/notesMasters/notesMaster1.xml" Id="Rbfccefb60dba45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40073c0efa4b1c" /><Relationship Type="http://schemas.openxmlformats.org/officeDocument/2006/relationships/notesMaster" Target="/ppt/notesMasters/notesMaster1.xml" Id="Rc6ed6361aee147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be654957754323" /><Relationship Type="http://schemas.openxmlformats.org/officeDocument/2006/relationships/notesMaster" Target="/ppt/notesMasters/notesMaster1.xml" Id="R2f7b2fdbdc394c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your thesis: if AI should understand humans, it must model emotional experience beyond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run outputs from Boiler Room Crowd Reaction Analyzer.</a:t>
            </a:r>
          </a:p>
          <a:p xmlns:a="http://schemas.openxmlformats.org/drawingml/2006/main">
            <a:r>
              <a:t>- data/processed/set_summary.csv (top-10 set analysis).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Bridge from philosophy to product: we operationalize emotional signal in a repeatable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run outputs from Boiler Room Crowd Reaction Analyzer.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relative spread is the value: we can now compare crowd reaction quantitatively.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data/processed/set_summary.csv (top-10 set analysis).</a:t>
            </a:r>
          </a:p>
          <a:p xmlns:a="http://schemas.openxmlformats.org/drawingml/2006/main">
            <a:r>
              <a:t>- data/processed/leaderboard_top10.csv (ranking by avg_energy).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each module can be upgraded independently (better detection models, stronger fingerprint APIs).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run outputs from Boiler Room Crowd Reaction Analyzer.</a:t>
            </a:r>
          </a:p>
          <a:p xmlns:a="http://schemas.openxmlformats.org/drawingml/2006/main">
            <a:r>
              <a:t>- data/processed/tracks/*_tracks.csv (audio-fingerprint track mapping).</a:t>
            </a:r>
          </a:p>
          <a:p xmlns:a="http://schemas.openxmlformats.org/drawingml/2006/main">
            <a:r>
              <a:t>- data/processed/peaks/*_moments.csv (high/low crowd moments).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NL-to-ops mapping: 'scrape more sets' maps to run_pipeline.py refresh-top10 --top-n 20; 'ask top songs' maps to run_pipeline.py ask; 'check if demo-ready' maps to run_pipeline.py doctor. Mention the installed CrowdPulse skill, PowerPoint skill deck generation, the daily automation named CrowdPulse top-10 DJ refresh, and human review through data/input/manual_track_overrides.csv.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run outputs from Boiler Room Crowd Reaction Analyzer.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ask: pilot with one promoter/label and benchmark 50+ sets in the next 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run outputs from Boiler Room Crowd Reaction Analyzer.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c8876b21d457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93b136367854e50" /><Relationship Type="http://schemas.openxmlformats.org/officeDocument/2006/relationships/slideLayout" Target="/ppt/slideLayouts/slideLayout2.xml" Id="R3fb6455454c94c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b6455454c94c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7d0053be9d4ae0" /><Relationship Type="http://schemas.openxmlformats.org/officeDocument/2006/relationships/notesSlide" Target="/ppt/notesSlides/notesSlide1.xml" Id="R2cf46536d49646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6039658ab140a9" /><Relationship Type="http://schemas.openxmlformats.org/officeDocument/2006/relationships/notesSlide" Target="/ppt/notesSlides/notesSlide2.xml" Id="R4449c862025845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762621c88640c8" /><Relationship Type="http://schemas.openxmlformats.org/officeDocument/2006/relationships/notesSlide" Target="/ppt/notesSlides/notesSlide3.xml" Id="R06543f25451349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b6cab7f6804775" /><Relationship Type="http://schemas.openxmlformats.org/officeDocument/2006/relationships/image" Target="/ppt/media/image.jpeg" Id="R7cdeded6fbb64ef4" /><Relationship Type="http://schemas.openxmlformats.org/officeDocument/2006/relationships/notesSlide" Target="/ppt/notesSlides/notesSlide4.xml" Id="Rb1db306ea05949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98e9ca24f8476a" /><Relationship Type="http://schemas.openxmlformats.org/officeDocument/2006/relationships/notesSlide" Target="/ppt/notesSlides/notesSlide5.xml" Id="Rb73fdd2ca8df4d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4f3002d8d94042" /><Relationship Type="http://schemas.openxmlformats.org/officeDocument/2006/relationships/notesSlide" Target="/ppt/notesSlides/notesSlide6.xml" Id="Rc780fe490e9a4f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2926C9-969E-4C09-B357-4B127FCF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A2856-2B7D-48ED-B422-3D175AC7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5B9C1-92C3-4426-9C11-A55CB82A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93A51-EF0A-4062-8F64-9A9F6276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29C07-E8FB-4033-BB7E-CF024598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8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44F9F-C86D-4170-B4D8-30C0A078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FB6DD-F675-432F-8479-F525976F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F1B66-7875-48FC-8323-4CAC2766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ABB7C-3C7F-46DF-B32C-34D914A0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F14D3-47A8-444B-8F40-28CE6827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33C4C-BB41-4DC2-A076-2035C46A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FC48D-0BF7-4AFB-BB2F-56ADFDC9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7659C-014C-4FF8-87D8-939F407C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96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90CB7-73C7-4C2B-870D-3F24EB87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620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67851-DA4D-471C-920E-34F56489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2101D-9BED-4CD3-B9D9-43C829B2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5B6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CD2C2-C147-493B-BBA3-4C2AC6D9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15895-8A6C-4306-894D-148B2B99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F"/>
          </a:solidFill>
          <a:ln xmlns:a="http://schemas.openxmlformats.org/drawingml/2006/main" w="9525">
            <a:solidFill>
              <a:srgbClr val="C9D2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48FA21-D46D-4D1A-97DD-BD05E66E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143000"/>
            <a:ext cx="133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>
              <a:alpha val="3529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8898A-4283-4830-88C1-412854F5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38275"/>
            <a:ext cx="1333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C71F8-799E-42EB-ACF3-4BD528D7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33550"/>
            <a:ext cx="1333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>
              <a:alpha val="3529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D7088-07E4-43D0-B57F-90F9CBF6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28825"/>
            <a:ext cx="133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E69809-B12D-4274-AB0E-DFF7F897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143000"/>
            <a:ext cx="133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>
              <a:alpha val="3529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2CB19-E2C4-4190-9F96-232B68EF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438275"/>
            <a:ext cx="133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BAD32-47E4-46E2-B0F9-A48399E0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33550"/>
            <a:ext cx="1333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>
              <a:alpha val="3529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09C8D1-D649-488A-AE99-DEF66F7D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28825"/>
            <a:ext cx="1333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18C306-F481-4DB0-84B5-8D681F18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143000"/>
            <a:ext cx="133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>
              <a:alpha val="3529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9DF611-AA9B-434B-83FA-0B24085D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438275"/>
            <a:ext cx="133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953E98-1C9F-494F-8236-9B5DF44F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733550"/>
            <a:ext cx="133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>
              <a:alpha val="3529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D54C35-7D81-48D4-81E0-DAFD47F0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768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4F"/>
                </a:solidFill>
              </a:defRPr>
            </a:pPr>
            <a:r>
              <a:rPr sz="900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VIDEO  -&gt;  SIGNAL  -&gt;  EMOTION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B8AE8E-D3D2-4F0A-8292-25C720D5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B71580-6279-4B6F-8A92-2D545452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B4F"/>
                </a:solidFill>
              </a:defRPr>
            </a:pPr>
            <a:r>
              <a:rPr sz="97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HACKATHON PITCH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D01A2D-5F97-4A85-8F69-DFCD64CA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66825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>
                    <a:alpha val="0"/>
                  </a:srgbClr>
                </a:solidFill>
              </a:defRPr>
            </a:pPr>
            <a:r>
              <a:rPr sz="3600" b="1">
                <a:solidFill>
                  <a:srgbClr val="000000">
                    <a:alpha val="0"/>
                  </a:srgbClr>
                </a:solidFill>
                <a:latin typeface="Aptos Display"/>
                <a:ea typeface="Aptos Display"/>
                <a:cs typeface="Aptos Display"/>
              </a:rPr>
              <a:t>CrowdPulse: Quantifying Emotion Beyond Text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C6260C-DE69-4D7B-AB58-BF1CB413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>
                    <a:alpha val="0"/>
                  </a:srgbClr>
                </a:solidFill>
              </a:defRPr>
            </a:pPr>
            <a:r>
              <a:rPr sz="3600" b="1">
                <a:solidFill>
                  <a:srgbClr val="000000">
                    <a:alpha val="0"/>
                  </a:srgbClr>
                </a:solidFill>
                <a:latin typeface="Aptos Display"/>
                <a:ea typeface="Aptos Display"/>
                <a:cs typeface="Aptos Display"/>
              </a:rPr>
              <a:t>CrowdPulse: Quantifying Emotion Beyond 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1664CF-D907-4F20-A3DC-3AEB7795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1A1C"/>
                </a:solidFill>
              </a:defRPr>
            </a:pPr>
            <a:r>
              <a:rPr sz="3600" b="1">
                <a:solidFill>
                  <a:srgbClr val="151A1C"/>
                </a:solidFill>
                <a:latin typeface="Aptos Display"/>
                <a:ea typeface="Aptos Display"/>
                <a:cs typeface="Aptos Display"/>
              </a:rPr>
              <a:t>CrowdPulse: Quantifying Emotion Beyond 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38201B-1C5D-4EF7-B945-B82B6C44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3734"/>
                </a:solidFill>
              </a:defRPr>
            </a:pPr>
            <a:r>
              <a:rPr sz="1500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LLMs excel in text and code. We add a sensory layer that measures crowd emotion from video over time.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B89F39-AC52-4A7D-ADC4-9CC03C33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B012DA-EE85-46D1-B850-5911D63F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9C9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660F7E-F48C-45B5-A644-B1A96A6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A1C"/>
                </a:solidFill>
              </a:defRPr>
            </a:pPr>
            <a:r>
              <a:rPr sz="1725" b="1">
                <a:solidFill>
                  <a:srgbClr val="151A1C"/>
                </a:solidFill>
                <a:latin typeface="Aptos Display"/>
                <a:ea typeface="Aptos Display"/>
                <a:cs typeface="Aptos Display"/>
              </a:rPr>
              <a:t>From text intelligence to emotion intelligence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F7B736-78DE-4F37-B84D-D3C236A5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58207B-D086-46C6-9235-587A82DE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FCEA95-1B25-44FE-A664-F2F2BA32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4"/>
                </a:solidFill>
              </a:defRPr>
            </a:pPr>
            <a:r>
              <a:rPr sz="750" b="0">
                <a:solidFill>
                  <a:srgbClr val="4D5654"/>
                </a:solidFill>
                <a:latin typeface="Aptos"/>
                <a:ea typeface="Aptos"/>
                <a:cs typeface="Aptos"/>
              </a:rPr>
              <a:t>Editable PowerPoint deck: copy, cards, metrics, signal marks, and demo frame.</a:t>
            </a:r>
          </a:p>
        </p:txBody>
      </p:sp>
    </p:spTree>
    <p:extLst>
      <p:ext uri="{BB962C8B-B14F-4D97-AF65-F5344CB8AC3E}">
        <p14:creationId xmlns:p14="http://schemas.microsoft.com/office/powerpoint/2010/main" val="385572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77758C-BDF6-4987-AE40-C53D8DA3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F947D-16F2-4C35-A622-68494F6D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A72E2-97D5-41F5-AF1F-6DA5FD2B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76F03-0491-42CF-A08C-83FEFC39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30BA4-ECD9-44B7-B2DC-24DFCAB0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8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5A770-BCE7-4554-B714-A7F6F818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83BAF-1BEC-4178-971E-1DBF40B1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4635D-88F2-442C-944A-7D83764D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3489A-0471-4774-812E-F36BE048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AF640-F954-49F2-96DC-1EBB386D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6BC85-7E59-46AD-AF2A-12E1FB25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3776E-A401-4458-A20F-74DF5D5D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02CB9-B4A6-4ACD-B0CC-7C864CD3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96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CC5B5-21A3-406F-A891-31FC50AA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620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B6EBB-FEF8-4964-B345-A1D4B412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6A8ED-B8AC-49CC-BFE7-F5E15795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6F57D-7102-4F15-831E-5F061D37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B4F"/>
                </a:solidFill>
              </a:defRPr>
            </a:pPr>
            <a:r>
              <a:rPr sz="97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DEE6E-5388-4FAC-9772-8ECC53B9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D5654"/>
                </a:solidFill>
              </a:defRPr>
            </a:pPr>
            <a:r>
              <a:rPr sz="975" b="1">
                <a:solidFill>
                  <a:srgbClr val="4D5654"/>
                </a:solidFill>
                <a:latin typeface="Aptos Mono"/>
                <a:ea typeface="Aptos Mono"/>
                <a:cs typeface="Aptos Mono"/>
              </a:rPr>
              <a:t>02 / 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0B641-0E5B-4155-A988-5B50F16C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233E8-9AD8-4DE9-8303-E6CF977C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899DF-C002-4E49-AA17-E12B8B49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35D8F4-13FD-4553-87EA-FDDE3C33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243B4D-ECAA-460E-90D8-1D247A9C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>
                    <a:alpha val="0"/>
                  </a:srgbClr>
                </a:solidFill>
              </a:defRPr>
            </a:pPr>
            <a:r>
              <a:rPr sz="3000" b="1">
                <a:solidFill>
                  <a:srgbClr val="000000">
                    <a:alpha val="0"/>
                  </a:srgbClr>
                </a:solidFill>
                <a:latin typeface="Aptos Display"/>
                <a:ea typeface="Aptos Display"/>
                <a:cs typeface="Aptos Display"/>
              </a:rPr>
              <a:t>Text-native intelligence misses sensory emotional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A28A29-34AE-495E-873C-A845DA09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>
                    <a:alpha val="0"/>
                  </a:srgbClr>
                </a:solidFill>
              </a:defRPr>
            </a:pPr>
            <a:r>
              <a:rPr sz="3000" b="1">
                <a:solidFill>
                  <a:srgbClr val="000000">
                    <a:alpha val="0"/>
                  </a:srgbClr>
                </a:solidFill>
                <a:latin typeface="Aptos Display"/>
                <a:ea typeface="Aptos Display"/>
                <a:cs typeface="Aptos Display"/>
              </a:rPr>
              <a:t>Text-native intelligence misses sensory emotional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F61A16-2F9F-497F-A63B-16581505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A1C"/>
                </a:solidFill>
              </a:defRPr>
            </a:pPr>
            <a:r>
              <a:rPr sz="3000" b="1">
                <a:solidFill>
                  <a:srgbClr val="151A1C"/>
                </a:solidFill>
                <a:latin typeface="Aptos Display"/>
                <a:ea typeface="Aptos Display"/>
                <a:cs typeface="Aptos Display"/>
              </a:rPr>
              <a:t>Text-native intelligence misses sensory emotional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26A24-865F-4641-8F17-C89B1A17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361443-CB60-48CD-AB08-1FCA2C7C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14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961F80-F6A7-4AEF-B9DF-14E3D711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E3734"/>
                </a:solidFill>
              </a:defRPr>
            </a:pPr>
            <a:r>
              <a:rPr sz="142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Human emotional experience is not only text; it is movement, sound, light, and collective behavior.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B2D34E-88D7-402D-A989-DF8D561A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9E1234-228D-4695-8A0C-8F478BAF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8F212C-355B-424D-BDB1-DFBBDEC5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4EE67D-38CC-4F83-AC15-CAE56F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900" y="42005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E5CD3B-2EE0-4869-8E27-C3AC0DBB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50" y="420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1C6979-C1F9-46DE-B8B2-4B388532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05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589724-9F2D-41C2-9126-A2CF2F64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9C9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85EA72-3EAA-447C-AB23-A5D0048C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4A8736-B2AD-40D3-9897-8E536072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F3FDB6-8401-4466-A94C-42F27D08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A740AA-D988-455A-809E-36F7DB23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4F"/>
                </a:solidFill>
              </a:defRPr>
            </a:pPr>
            <a:r>
              <a:rPr sz="112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LLMs are text-first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AC043A-E065-4EDB-805C-BBDCC27C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Most digital workflows are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language and code, where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LLMs are excellent.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36D2E4-A49C-4964-B4F7-5B34A680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11480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BC7354-E865-4C01-AD4F-FCD4E673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C2B58F-AF6A-441F-BCB0-2C368963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8E43CB-4CD8-4A8A-96C8-B9497787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0" y="42005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ABD6CD-9FE5-4A30-A5BA-1EA27AC6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420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B04C05-E74A-4267-B08C-79F5F996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75" y="4305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518BE8-6FA6-4881-8CF8-996A9AD8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9C9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59DE31-13AE-418B-8E28-70C99078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A35E80-967B-4A01-8850-0894D22E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3FFA6D-BD66-48E8-87C8-33D65A21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E9822A-07FB-4C6C-A7FB-88B1068D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4F"/>
                </a:solidFill>
              </a:defRPr>
            </a:pPr>
            <a:r>
              <a:rPr sz="112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Emotion is sensory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AD6E7C-30F3-44A8-85C3-72B148D9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Crowd emotion appears in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movement, rhythm, lighting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shifts, and group reaction.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E1C2DC-CDF4-449D-A0AA-8B187833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411480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91A112-C075-4DFF-8789-7250A9A8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A30D78-C739-436B-A39E-D3A24883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BEBE11-66FA-4CDD-A446-D9D6278B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2005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CB4ED5-AAD6-46D5-96B8-2460418A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20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99F272-0EFF-4B94-9A22-823D9E63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525" y="4305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EE54B31-8751-4F2B-B6F2-C98A07B5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9C9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686DBE-7429-403B-A3FD-2C1C336E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B1F609-D16D-4E1E-B9E5-5D913BAA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0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D93F8F-CFC8-41F8-B092-84A4FA0F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8F47E6-EFA4-478C-A25A-EA181E79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4F"/>
                </a:solidFill>
              </a:defRPr>
            </a:pPr>
            <a:r>
              <a:rPr sz="112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Opportunity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674155-D9EE-4631-8299-511D312A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Quantify these signals and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you unlock measurable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emotional intelligence.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D9360F1-5CAF-483F-B230-3AF6B44F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4"/>
                </a:solidFill>
              </a:defRPr>
            </a:pPr>
            <a:r>
              <a:rPr sz="750" b="0">
                <a:solidFill>
                  <a:srgbClr val="4D5654"/>
                </a:solidFill>
                <a:latin typeface="Aptos"/>
                <a:ea typeface="Aptos"/>
                <a:cs typeface="Aptos"/>
              </a:rPr>
              <a:t>Editable PowerPoint deck: copy, cards, metrics, signal marks, and demo frame.</a:t>
            </a:r>
          </a:p>
        </p:txBody>
      </p:sp>
    </p:spTree>
    <p:extLst>
      <p:ext uri="{BB962C8B-B14F-4D97-AF65-F5344CB8AC3E}">
        <p14:creationId xmlns:p14="http://schemas.microsoft.com/office/powerpoint/2010/main" val="609954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6F1E78-AD1A-4A8C-BA4F-8BF618FC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CB735-2234-4654-B449-0C6115AF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0DA85-88E6-4A21-B290-82E7A363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834C3-22A3-493C-99CD-6FEA7E01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21598-91D3-4FAF-AC5D-9F45E9A5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8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5ADFA-1AC4-49F1-BC22-4A0BCAEF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260FC-4C9B-4F2F-B0DB-49119C56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AA217-D8AA-42D8-BEAA-2531E835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0AD0D-3847-463A-85B4-89A31144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03417-4BD2-4372-9CC4-8707CE1A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D8BD5-3D73-476B-B99A-F51F657F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46EDC-881D-484D-84EB-FDB0896E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67A20-9CBE-4644-A225-1416AC5E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96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92748-2715-4B6A-8677-A27F37F7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620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A6F21-556B-48E3-B686-9BAA4F07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F1E00-A5A6-40F2-BA7E-59093642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57C00-7574-4C24-96EB-3A32E513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B4F"/>
                </a:solidFill>
              </a:defRPr>
            </a:pPr>
            <a:r>
              <a:rPr sz="97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EE4B0-7AB5-4A3E-BB9A-5CEADA05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D5654"/>
                </a:solidFill>
              </a:defRPr>
            </a:pPr>
            <a:r>
              <a:rPr sz="975" b="1">
                <a:solidFill>
                  <a:srgbClr val="4D5654"/>
                </a:solidFill>
                <a:latin typeface="Aptos Mono"/>
                <a:ea typeface="Aptos Mono"/>
                <a:cs typeface="Aptos Mono"/>
              </a:rPr>
              <a:t>03 / 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8BEBC-5251-4AA5-8ACE-839C735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6D32F-E87A-4440-B0EA-F8130085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CAEF56-BEAB-4AD0-AF08-4209F0A4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F3100-6E1C-4687-A7CE-7FC60A38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5C2D6-1980-4013-B7C2-B5F16EF8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>
                    <a:alpha val="0"/>
                  </a:srgbClr>
                </a:solidFill>
              </a:defRPr>
            </a:pPr>
            <a:r>
              <a:rPr sz="3000" b="1">
                <a:solidFill>
                  <a:srgbClr val="000000">
                    <a:alpha val="0"/>
                  </a:srgbClr>
                </a:solidFill>
                <a:latin typeface="Aptos Display"/>
                <a:ea typeface="Aptos Display"/>
                <a:cs typeface="Aptos Display"/>
              </a:rPr>
              <a:t>Top-10 benchmark run produced clear DJ performance spread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819B6-AF08-4D7B-8D82-A2165103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>
                    <a:alpha val="0"/>
                  </a:srgbClr>
                </a:solidFill>
              </a:defRPr>
            </a:pPr>
            <a:r>
              <a:rPr sz="3000" b="1">
                <a:solidFill>
                  <a:srgbClr val="000000">
                    <a:alpha val="0"/>
                  </a:srgbClr>
                </a:solidFill>
                <a:latin typeface="Aptos Display"/>
                <a:ea typeface="Aptos Display"/>
                <a:cs typeface="Aptos Display"/>
              </a:rPr>
              <a:t>Top-10 benchmark run produced clear DJ performance spread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D42D7A-25BA-4C07-8ABC-BA5DDE43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A1C"/>
                </a:solidFill>
              </a:defRPr>
            </a:pPr>
            <a:r>
              <a:rPr sz="3000" b="1">
                <a:solidFill>
                  <a:srgbClr val="151A1C"/>
                </a:solidFill>
                <a:latin typeface="Aptos Display"/>
                <a:ea typeface="Aptos Display"/>
                <a:cs typeface="Aptos Display"/>
              </a:rPr>
              <a:t>Top-10 benchmark run produced clear DJ performance spread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7CE78D-692E-4B58-A927-E8E62E49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E6C6B7-19E9-4D5E-AEBF-0DA7D243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14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611F89-2A62-4D08-BF72-F98BFE4E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E3734"/>
                </a:solidFill>
              </a:defRPr>
            </a:pPr>
            <a:r>
              <a:rPr sz="142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Same pipeline, same cadence, and normalized signals make cross-set ranking possible.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891680-52ED-4CD0-BC2A-02E4679B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27C8D4-6650-428F-A77D-70EE3E07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AD70B2-8F93-4A15-8485-132C1F01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E96EBD-EFBA-4900-BE5A-F71E1BE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195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D4C0D9-DDDD-4233-8746-9A3BFBB0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6B4F"/>
                </a:solidFill>
              </a:defRPr>
            </a:pPr>
            <a:r>
              <a:rPr sz="2550" b="1">
                <a:solidFill>
                  <a:srgbClr val="006B4F"/>
                </a:solidFill>
                <a:latin typeface="Aptos Display"/>
                <a:ea typeface="Aptos Display"/>
                <a:cs typeface="Aptos Display"/>
              </a:rPr>
              <a:t>0.498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628667-EF32-4425-A751-D95130F3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A1C"/>
                </a:solidFill>
              </a:defRPr>
            </a:pPr>
            <a:r>
              <a:rPr sz="1200" b="0">
                <a:solidFill>
                  <a:srgbClr val="151A1C"/>
                </a:solidFill>
                <a:latin typeface="Aptos"/>
                <a:ea typeface="Aptos"/>
                <a:cs typeface="Aptos"/>
              </a:rPr>
              <a:t>Top avg_energy (Kaytranada set)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0E7907-F9D4-4CA4-8B11-3BFA3D8F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4"/>
                </a:solidFill>
              </a:defRPr>
            </a:pPr>
            <a:r>
              <a:rPr sz="750" b="0">
                <a:solidFill>
                  <a:srgbClr val="4D5654"/>
                </a:solidFill>
                <a:latin typeface="Aptos"/>
                <a:ea typeface="Aptos"/>
                <a:cs typeface="Aptos"/>
              </a:rPr>
              <a:t>From leaderboard_top10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D88DF6-0CB1-4FDB-A6C1-B71F1FA9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495837-28D8-4D19-9D89-48368203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43E5A4-7022-43FA-9DC9-AD03D478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BD4CE6-F5FD-46B1-8069-26FC7BAE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195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0C3D71-2C81-4DAF-99B8-E878C3C1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06A00"/>
                </a:solidFill>
              </a:defRPr>
            </a:pPr>
            <a:r>
              <a:rPr sz="2550" b="1">
                <a:solidFill>
                  <a:srgbClr val="A06A00"/>
                </a:solidFill>
                <a:latin typeface="Aptos Display"/>
                <a:ea typeface="Aptos Display"/>
                <a:cs typeface="Aptos Display"/>
              </a:rPr>
              <a:t>0.286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5C9B8E-4D26-4D6A-AE53-FC335498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A1C"/>
                </a:solidFill>
              </a:defRPr>
            </a:pPr>
            <a:r>
              <a:rPr sz="1200" b="0">
                <a:solidFill>
                  <a:srgbClr val="151A1C"/>
                </a:solidFill>
                <a:latin typeface="Aptos"/>
                <a:ea typeface="Aptos"/>
                <a:cs typeface="Aptos"/>
              </a:rPr>
              <a:t>Lowest avg_energy (Acid Pauli set)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39E54F-BA26-4F5D-8A35-82ABF19C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4"/>
                </a:solidFill>
              </a:defRPr>
            </a:pPr>
            <a:r>
              <a:rPr sz="750" b="0">
                <a:solidFill>
                  <a:srgbClr val="4D5654"/>
                </a:solidFill>
                <a:latin typeface="Aptos"/>
                <a:ea typeface="Aptos"/>
                <a:cs typeface="Aptos"/>
              </a:rPr>
              <a:t>From leaderboard_top10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A91251-019B-427F-998D-4D760B88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44BE5F-7A32-4D83-AA56-93A6CE15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F31740-7EF4-41C4-83A5-FC71A5DE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AE7E44-7514-45FA-B6AA-31D4F51C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195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9DE986-A629-4A7D-A0D6-4F05DC5B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2415D"/>
                </a:solidFill>
              </a:defRPr>
            </a:pPr>
            <a:r>
              <a:rPr sz="2550" b="1">
                <a:solidFill>
                  <a:srgbClr val="C2415D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CEB788-CAED-4847-9B65-907D635E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A1C"/>
                </a:solidFill>
              </a:defRPr>
            </a:pPr>
            <a:r>
              <a:rPr sz="1200" b="0">
                <a:solidFill>
                  <a:srgbClr val="151A1C"/>
                </a:solidFill>
                <a:latin typeface="Aptos"/>
                <a:ea typeface="Aptos"/>
                <a:cs typeface="Aptos"/>
              </a:rPr>
              <a:t>Sets fully analyzed in local run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0ABF94-F21D-468D-BFC2-5FDD6D44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4"/>
                </a:solidFill>
              </a:defRPr>
            </a:pPr>
            <a:r>
              <a:rPr sz="750" b="0">
                <a:solidFill>
                  <a:srgbClr val="4D5654"/>
                </a:solidFill>
                <a:latin typeface="Aptos"/>
                <a:ea typeface="Aptos"/>
                <a:cs typeface="Aptos"/>
              </a:rPr>
              <a:t>From set_summary.csv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5CE17F-870F-4770-9EA7-7AC5424B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4"/>
                </a:solidFill>
              </a:defRPr>
            </a:pPr>
            <a:r>
              <a:rPr sz="750" b="0">
                <a:solidFill>
                  <a:srgbClr val="4D5654"/>
                </a:solidFill>
                <a:latin typeface="Aptos"/>
                <a:ea typeface="Aptos"/>
                <a:cs typeface="Aptos"/>
              </a:rPr>
              <a:t>Editable PowerPoint deck: copy, cards, metrics, signal marks, and demo frame.</a:t>
            </a:r>
          </a:p>
        </p:txBody>
      </p:sp>
    </p:spTree>
    <p:extLst>
      <p:ext uri="{BB962C8B-B14F-4D97-AF65-F5344CB8AC3E}">
        <p14:creationId xmlns:p14="http://schemas.microsoft.com/office/powerpoint/2010/main" val="1877682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35AD22-2D2A-45C2-95B9-34FD5076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856D2-320C-4579-843B-08229377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17CE9-87DC-4A03-AC81-787B112A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EE139-0AA2-44B9-90C2-9DEF4F9B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F39AA-92D0-4637-BB7F-DE8643E7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8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AD122-AF34-46EA-98E3-3973D84E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03C2D-2183-4CA7-A473-908762D2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7C6CD-BBA3-4445-A927-611ECE4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9DF8F-8455-4515-B131-9AC6C629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EBA6E-3A6F-433E-9A10-802BC2F8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32240-036D-4A2B-97EA-6AA0A456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AF914-AAE8-4A52-8179-865FDB29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02399-CEDF-4ECB-8D8F-2C41C6FF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96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7D7D3-67F2-4BC3-84AB-905E1F5B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620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6B422-8F6A-4ED6-B032-8769C00A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22F1B-DC3C-4284-B2BB-D8F0E5EE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9326C-15F7-40DB-8090-2A194CD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B4F"/>
                </a:solidFill>
              </a:defRPr>
            </a:pPr>
            <a:r>
              <a:rPr sz="97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HOW IT WORKS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7D71E-89F3-47B6-AD4D-48E90DD1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D5654"/>
                </a:solidFill>
              </a:defRPr>
            </a:pPr>
            <a:r>
              <a:rPr sz="975" b="1">
                <a:solidFill>
                  <a:srgbClr val="4D5654"/>
                </a:solidFill>
                <a:latin typeface="Aptos Mono"/>
                <a:ea typeface="Aptos Mono"/>
                <a:cs typeface="Aptos Mono"/>
              </a:rPr>
              <a:t>04 / 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DF9379-0DC3-4597-BD11-39E82DCC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1D019-9E75-4976-8CC4-1768B18D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C3711-C0BC-4947-B8B5-01DB8B35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00962-BB61-4F1E-9397-11D3E9F4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24448-B3EC-48D9-A4BC-4FF164E3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5619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>
                    <a:alpha val="0"/>
                  </a:srgbClr>
                </a:solidFill>
              </a:defRPr>
            </a:pPr>
            <a:r>
              <a:rPr sz="3000" b="1">
                <a:solidFill>
                  <a:srgbClr val="000000">
                    <a:alpha val="0"/>
                  </a:srgbClr>
                </a:solidFill>
                <a:latin typeface="Aptos Display"/>
                <a:ea typeface="Aptos Display"/>
                <a:cs typeface="Aptos Display"/>
              </a:rPr>
              <a:t>Automated pipeline from discovery to time-coded insights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27BF55-81D3-4858-97DD-2EEA2998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5619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>
                    <a:alpha val="0"/>
                  </a:srgbClr>
                </a:solidFill>
              </a:defRPr>
            </a:pPr>
            <a:r>
              <a:rPr sz="3000" b="1">
                <a:solidFill>
                  <a:srgbClr val="000000">
                    <a:alpha val="0"/>
                  </a:srgbClr>
                </a:solidFill>
                <a:latin typeface="Aptos Display"/>
                <a:ea typeface="Aptos Display"/>
                <a:cs typeface="Aptos Display"/>
              </a:rPr>
              <a:t>Automated pipeline from discovery to time-coded insights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931D1-9F21-4C5A-81B0-D0DBCB92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619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A1C"/>
                </a:solidFill>
              </a:defRPr>
            </a:pPr>
            <a:r>
              <a:rPr sz="3000" b="1">
                <a:solidFill>
                  <a:srgbClr val="151A1C"/>
                </a:solidFill>
                <a:latin typeface="Aptos Display"/>
                <a:ea typeface="Aptos Display"/>
                <a:cs typeface="Aptos Display"/>
              </a:rPr>
              <a:t>Automated pipeline from discovery to time-coded insights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CC987-0AC1-4914-9B8F-3617F2FD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A85F9E-F649-4D90-80F1-4FB8A53C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14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C00A43-32CD-4F37-B534-785812C6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E3734"/>
                </a:solidFill>
              </a:defRPr>
            </a:pPr>
            <a:r>
              <a:rPr sz="142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The workflow is modular, repeatable, and designed for regular refresh runs.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0E3249-DA37-457E-B386-BFF897C1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952500"/>
            <a:ext cx="52006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3E0A0A-656A-49EC-ACD8-C9B5A9E2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876300"/>
            <a:ext cx="52006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9C9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E65D5D-A829-428A-A7D2-7FC777A9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0668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42D111-FDCA-4045-8243-5DBDC463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eded6fbb64ef4"/>
          <a:stretch xmlns:a="http://schemas.openxmlformats.org/drawingml/2006/main"/>
        </p:blipFill>
        <p:spPr>
          <a:xfrm xmlns:a="http://schemas.openxmlformats.org/drawingml/2006/main">
            <a:off x="6530975" y="952500"/>
            <a:ext cx="4978400" cy="28003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56C340-45F6-457A-A4DB-BA05B372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02456D-E1DA-4A8C-82D9-9FD8A19B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550DC6-0226-4CE9-848B-CE21B843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FFCFC9-08F7-4DA9-A3C7-D2FCA9CA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900" y="42005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A862DB-89C4-4E99-8901-76ECB0EF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50" y="420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3496F7-6BEB-44B3-ADAB-4CE80E22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05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67DA54-BAE4-4B1B-8863-0F161896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9C9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D2A2D5-40F6-4A69-B7EE-1F84EEE9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9E4FB6-BD08-4BA5-B582-1DAA324C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F30A9A-29A4-4E06-81D2-C1649561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FBEA60-F4B5-48AB-98F7-A4CB6634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4F"/>
                </a:solidFill>
              </a:defRPr>
            </a:pPr>
            <a:r>
              <a:rPr sz="112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Discover + ingest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FBEE9E-D21C-4BAE-B5CC-31DD5B66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Rank trending DJs, then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ingest top YouTube sets with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metadata.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623964-07B2-4290-8AA8-9A5E6A74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11480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A55A16-32A4-45AA-961E-CF058626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234886-1ABB-47AB-BB49-E47C550C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89B701-3962-44D6-B4C5-84AFC795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0" y="42005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013ED6-C310-4223-85CD-F6D41FEC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420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9FB017-3B8D-4FDB-AABD-084D8770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75" y="4305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D27BBB-E227-4CBF-9227-55F97920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9C9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59EB00-87C0-4361-A66B-EFE40277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98D275-8FA8-4EA7-BAF3-26A9395D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28CA35-AD84-4B8E-9DAD-E9A6BA58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FA78FF-7827-4D33-BD44-DBA5424B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4F"/>
                </a:solidFill>
              </a:defRPr>
            </a:pPr>
            <a:r>
              <a:rPr sz="112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Score crowd energy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F5872E-0C6E-457F-8466-24E5BABF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Every 10 seconds we score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movement, phones, lighting,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and crowd motion.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9BA2A40-3F4C-4EF1-A05B-2C82C3DF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411480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C155659-EF20-416E-941F-ACA6795F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763D86-A59C-4827-9304-D87723AA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8BB8C87-C8DF-4518-ADFC-BE2CF9E4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2005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ECE53D-8192-45F9-B86B-D2F9566C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20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E2B93C-FD30-4AAD-897E-35F83021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525" y="4305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BECCEE-AC6B-4BB5-A06F-7970C234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9C9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99AAEF7-AE19-47C7-8A41-F606E8E7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9322ACB-9D8D-4361-8157-64AD0908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0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1140B8-954C-435C-87C8-BF1C1226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95C490-177A-4E48-8F17-6ABFA20E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4F"/>
                </a:solidFill>
              </a:defRPr>
            </a:pPr>
            <a:r>
              <a:rPr sz="112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Map songs to moments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294B927-4700-40AC-AC78-F7804EB9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Map high/low moments to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tracks using metadata and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fingerprinting.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889FDC2-A609-41C6-9FDF-C6C4D5EC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4"/>
                </a:solidFill>
              </a:defRPr>
            </a:pPr>
            <a:r>
              <a:rPr sz="750" b="0">
                <a:solidFill>
                  <a:srgbClr val="4D5654"/>
                </a:solidFill>
                <a:latin typeface="Aptos"/>
                <a:ea typeface="Aptos"/>
                <a:cs typeface="Aptos"/>
              </a:rPr>
              <a:t>Editable PowerPoint deck: copy, cards, metrics, signal marks, and demo frame.</a:t>
            </a:r>
          </a:p>
        </p:txBody>
      </p:sp>
    </p:spTree>
    <p:extLst>
      <p:ext uri="{BB962C8B-B14F-4D97-AF65-F5344CB8AC3E}">
        <p14:creationId xmlns:p14="http://schemas.microsoft.com/office/powerpoint/2010/main" val="254075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AA8C3-4342-4726-81A5-AB2F317E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0BD86-D708-4FD0-829A-89E679F4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BF344-7A87-4A5B-9ACB-BAA67D68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2113B-BA55-4E99-8D44-1A12E77C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A6ED6-7E9D-4DF1-8444-128F85B5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8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F7DBC-57A7-4A9C-859B-0DE2D726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7C69C-E27A-4327-BE01-78B8C383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23EAC-5D05-4553-820F-B8405FB0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979A0-346F-45F4-BA2A-2D92F71A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4ADAC-A221-4829-AB76-4236EBF0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AE4A2-1D58-41A8-8FAC-8069A2EF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2A128-17D2-42E9-B28C-92762589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489D0-2DEF-40FF-ABB8-611AFD2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96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93FBC-3E44-4C7B-B315-7F3B1687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620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9ECF4-2C10-4217-9F61-FA3E832D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78F89-CF28-4455-9A6E-B2C773CA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CAE54-1559-4543-AFF0-C34D67FF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B4F"/>
                </a:solidFill>
              </a:defRPr>
            </a:pPr>
            <a:r>
              <a:rPr sz="97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CODEX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5660C-303A-42D7-B3AD-4F76B98D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D5654"/>
                </a:solidFill>
              </a:defRPr>
            </a:pPr>
            <a:r>
              <a:rPr sz="975" b="1">
                <a:solidFill>
                  <a:srgbClr val="4D5654"/>
                </a:solidFill>
                <a:latin typeface="Aptos Mono"/>
                <a:ea typeface="Aptos Mono"/>
                <a:cs typeface="Aptos Mono"/>
              </a:rPr>
              <a:t>05 / 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68865-8E0E-49AA-BBE4-E375F5A5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1B13E-DB41-420A-8C5E-E1032F47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57FA07-E6E3-4BD8-B6FA-2C5A9D2A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53A79-6A8A-4D61-BB10-5A46F2F7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EA7EF6-7A71-48AC-9BDD-4C1F05E5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>
                    <a:alpha val="0"/>
                  </a:srgbClr>
                </a:solidFill>
              </a:defRPr>
            </a:pPr>
            <a:r>
              <a:rPr sz="3000" b="1">
                <a:solidFill>
                  <a:srgbClr val="000000">
                    <a:alpha val="0"/>
                  </a:srgbClr>
                </a:solidFill>
                <a:latin typeface="Aptos Display"/>
                <a:ea typeface="Aptos Display"/>
                <a:cs typeface="Aptos Display"/>
              </a:rPr>
              <a:t>Natural-language Ops in Codex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5F4AB2-8F06-4673-8204-004DC8B4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>
                    <a:alpha val="0"/>
                  </a:srgbClr>
                </a:solidFill>
              </a:defRPr>
            </a:pPr>
            <a:r>
              <a:rPr sz="3000" b="1">
                <a:solidFill>
                  <a:srgbClr val="000000">
                    <a:alpha val="0"/>
                  </a:srgbClr>
                </a:solidFill>
                <a:latin typeface="Aptos Display"/>
                <a:ea typeface="Aptos Display"/>
                <a:cs typeface="Aptos Display"/>
              </a:rPr>
              <a:t>Natural-language Ops in Codex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20B344-8FED-4FAD-95DA-591A64C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A1C"/>
                </a:solidFill>
              </a:defRPr>
            </a:pPr>
            <a:r>
              <a:rPr sz="3000" b="1">
                <a:solidFill>
                  <a:srgbClr val="151A1C"/>
                </a:solidFill>
                <a:latin typeface="Aptos Display"/>
                <a:ea typeface="Aptos Display"/>
                <a:cs typeface="Aptos Display"/>
              </a:rPr>
              <a:t>Natural-language Ops in Codex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4C98A-2DA0-4CC6-8B08-BA7ABE64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939E2-D193-49A4-BC71-84258496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14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4C723A-6795-41AC-AB87-FC364EAC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E3734"/>
                </a:solidFill>
              </a:defRPr>
            </a:pPr>
            <a:r>
              <a:rPr sz="142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Codex operates the project as a repeatable system: skill, Q&amp;A, automation, diagnostics, and artifacts.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9DFE4E-1007-465C-98EA-342A35B1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EA8B32-B3AF-4AB9-80FB-C9B33892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F8107A-6418-4A5A-A36B-82110F07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F72234-EA51-4403-B754-2898ADF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900" y="42005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9A32BF-C363-43A0-B28F-267B1ECB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50" y="420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547DCB-B20E-4386-BBA9-14FEF9CD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05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971360-3E18-4FDC-B0DE-BB02BF15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9C9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F8FABC-39A4-4932-8E16-7A0F456F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C87BC0-8727-40CD-B82B-752AB73F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DAECC0-4E6C-45CE-BEC9-C08C7AA7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2041F7-5EFB-41CA-975D-B2F7D338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4F"/>
                </a:solidFill>
              </a:defRPr>
            </a:pPr>
            <a:r>
              <a:rPr sz="112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CrowdPulse skill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A02AC1-2068-4A68-8386-0A19788A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Skill packages refresh, Q&amp;A,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checks, frames, and deck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tasks.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7AD6F0-3E4C-4C00-B9A7-AC04DF03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411480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3BA546-BAD8-4C62-9970-ED583924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ED5AF4-424C-4651-9DEC-D582CD97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07A1F7-6DE6-4DA8-BFBC-74B134B4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0" y="42005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A2E4E2-1DF6-412E-A1B1-C3C585EA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420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3F2658-AB5B-4755-8BC2-A75607C3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75" y="4305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A68F30-1171-42BC-A541-8DF4CD46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9C9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BA7A4B-8D32-4CE7-94D7-A50975A1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6C6FA2-2F09-413A-8F91-665A69A7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A09646-9367-4EFD-9184-8D81FAB2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AC53C4-BC03-4E81-BDF8-19E88E23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4F"/>
                </a:solidFill>
              </a:defRPr>
            </a:pPr>
            <a:r>
              <a:rPr sz="112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Ask the data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09DA44-F677-4D19-AEA0-27ADF21E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run_pipeline.py ask answers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DJ, song, track, and peak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questions.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316334-F469-4E7A-A2C7-61871C3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411480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68745C-CA90-48E9-A6C6-84EBEA61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583A9-7D31-4BDD-8B1A-D8A6CEDA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52DFDC-AD77-4076-AA03-068A3076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2005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F994C9-7E69-4257-BA02-EB054088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20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110A43-CC40-4C23-BFB0-44D7305D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525" y="4305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A6FF2F-CAFC-4A27-9304-310B7CE6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9C9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2BED49-6960-4E3E-83CC-0815C870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A319136-F846-4E4B-9785-A9885C9A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0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F00BC9-EB2B-4D14-928E-F671C97C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7D6F7B0-78F8-4499-80B7-854C6C32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4F"/>
                </a:solidFill>
              </a:defRPr>
            </a:pPr>
            <a:r>
              <a:rPr sz="112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Cron + artifacts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CE357BA-B047-468B-ACCF-DF4E4067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Automation refreshes top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sets; Codex creates this</a:t>
            </a:r>
          </a:p>
          <a:p xmlns:a="http://schemas.openxmlformats.org/drawingml/2006/main">
            <a:pPr algn="l">
              <a:defRPr sz="1275" b="0">
                <a:solidFill>
                  <a:srgbClr val="2E3734"/>
                </a:solidFill>
              </a:defRPr>
            </a:pPr>
            <a:r>
              <a:rPr sz="127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deck and demo frames.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27FB22-AF6D-4562-9BCD-FCF51212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4"/>
                </a:solidFill>
              </a:defRPr>
            </a:pPr>
            <a:r>
              <a:rPr sz="750" b="0">
                <a:solidFill>
                  <a:srgbClr val="4D5654"/>
                </a:solidFill>
                <a:latin typeface="Aptos"/>
                <a:ea typeface="Aptos"/>
                <a:cs typeface="Aptos"/>
              </a:rPr>
              <a:t>Editable PowerPoint deck: copy, cards, metrics, signal marks, and demo frame.</a:t>
            </a:r>
          </a:p>
        </p:txBody>
      </p:sp>
    </p:spTree>
    <p:extLst>
      <p:ext uri="{BB962C8B-B14F-4D97-AF65-F5344CB8AC3E}">
        <p14:creationId xmlns:p14="http://schemas.microsoft.com/office/powerpoint/2010/main" val="701009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9C2439-3A5A-41AE-B669-0DDDA792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83919-D86E-4A3A-BF1D-615321CF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7304E-547B-452A-98CC-8090AE77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21C7F-FD9E-48D4-9F65-BF6D938A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55EBB-0EB1-4D02-B53A-6DFC3E3C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8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28128-5ECD-4BB1-B48C-7D6A5684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B5D2D-D4BC-4094-A4BA-47F750E9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915A5-4B58-40F7-9AD4-4E6662CA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8CEC1-C1BC-4B01-9C9A-CF24D5A9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5C42C-E5F8-4397-B88B-9798A5E3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4C773-DA90-4CA5-96AE-9EF2EB0F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90096-632A-4270-A2B3-C0ECD982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014E5-7327-42E8-BB83-1BD6BC49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96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7B3FB-32C6-4B88-9D16-7FFE3BE4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620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E0E84-630C-474E-B803-EDD3C45B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19202-4C14-465A-B853-21669D88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9145F-BD13-4E29-8F32-B3B4CD59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B4F"/>
                </a:solidFill>
              </a:defRPr>
            </a:pPr>
            <a:r>
              <a:rPr sz="975" b="1">
                <a:solidFill>
                  <a:srgbClr val="006B4F"/>
                </a:solidFill>
                <a:latin typeface="Aptos Mono"/>
                <a:ea typeface="Aptos Mono"/>
                <a:cs typeface="Aptos Mono"/>
              </a:rPr>
              <a:t>NEXT PHASE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E1D7F-3118-40B3-B012-1AEF7B4F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D5654"/>
                </a:solidFill>
              </a:defRPr>
            </a:pPr>
            <a:r>
              <a:rPr sz="975" b="1">
                <a:solidFill>
                  <a:srgbClr val="4D5654"/>
                </a:solidFill>
                <a:latin typeface="Aptos Mono"/>
                <a:ea typeface="Aptos Mono"/>
                <a:cs typeface="Aptos Mono"/>
              </a:rPr>
              <a:t>06 / 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DF969-24E6-4446-B8F8-E6D84306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3713A-D533-48C3-B98C-45F444D3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C0CB9-4AFF-4849-B9D7-EC24A95E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5D8208-D6FC-473D-8030-26F45BF3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E5148-78AA-4096-BB1F-13880365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>
                    <a:alpha val="0"/>
                  </a:srgbClr>
                </a:solidFill>
              </a:defRPr>
            </a:pPr>
            <a:r>
              <a:rPr sz="3000" b="1">
                <a:solidFill>
                  <a:srgbClr val="000000">
                    <a:alpha val="0"/>
                  </a:srgbClr>
                </a:solidFill>
                <a:latin typeface="Aptos Display"/>
                <a:ea typeface="Aptos Display"/>
                <a:cs typeface="Aptos Display"/>
              </a:rPr>
              <a:t>Roadmap: crowd analytics to emotional intelligence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F3ACF-68C9-40EE-BF55-E10F53E2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>
                    <a:alpha val="0"/>
                  </a:srgbClr>
                </a:solidFill>
              </a:defRPr>
            </a:pPr>
            <a:r>
              <a:rPr sz="3000" b="1">
                <a:solidFill>
                  <a:srgbClr val="000000">
                    <a:alpha val="0"/>
                  </a:srgbClr>
                </a:solidFill>
                <a:latin typeface="Aptos Display"/>
                <a:ea typeface="Aptos Display"/>
                <a:cs typeface="Aptos Display"/>
              </a:rPr>
              <a:t>Roadmap: crowd analytics to emotional intelligence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80F06-CB34-4DDA-8DCD-8393C73B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A1C"/>
                </a:solidFill>
              </a:defRPr>
            </a:pPr>
            <a:r>
              <a:rPr sz="3000" b="1">
                <a:solidFill>
                  <a:srgbClr val="151A1C"/>
                </a:solidFill>
                <a:latin typeface="Aptos Display"/>
                <a:ea typeface="Aptos Display"/>
                <a:cs typeface="Aptos Display"/>
              </a:rPr>
              <a:t>Roadmap: crowd analytics to emotional intelligence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EF750-5EE1-43AD-AD41-F0C6BC2D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215D0-4265-4B2F-BC0A-A67DA327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14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84B637-985A-4FC2-9DAC-B4EA6138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E3734"/>
                </a:solidFill>
              </a:defRPr>
            </a:pPr>
            <a:r>
              <a:rPr sz="1425" b="0">
                <a:solidFill>
                  <a:srgbClr val="2E3734"/>
                </a:solidFill>
                <a:latin typeface="Aptos"/>
                <a:ea typeface="Aptos"/>
                <a:cs typeface="Aptos"/>
              </a:rPr>
              <a:t>This MVP is the first step toward quantifying real-world emotional experience at scale.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663ED8-5B0E-4864-8898-65389C81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56D6FE-B0C6-4B25-ABE6-E3FC5DC9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E9B30A-9A48-45D1-BF1E-0AFF6904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C31147-8AA7-4E3B-BA1D-71819604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195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2D8E42-9D01-45C1-93DC-E4C48ED1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6B4F"/>
                </a:solidFill>
              </a:defRPr>
            </a:pPr>
            <a:r>
              <a:rPr sz="2550" b="1">
                <a:solidFill>
                  <a:srgbClr val="006B4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2F937A-FD80-4509-B2FE-5ABE220D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A1C"/>
                </a:solidFill>
              </a:defRPr>
            </a:pPr>
            <a:r>
              <a:rPr sz="1200" b="0">
                <a:solidFill>
                  <a:srgbClr val="151A1C"/>
                </a:solidFill>
                <a:latin typeface="Aptos"/>
                <a:ea typeface="Aptos"/>
                <a:cs typeface="Aptos"/>
              </a:rPr>
              <a:t>Add track-ID providers + confidence calibration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8C187F-83F1-4646-B015-88ACD985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4"/>
                </a:solidFill>
              </a:defRPr>
            </a:pPr>
            <a:r>
              <a:rPr sz="750" b="0">
                <a:solidFill>
                  <a:srgbClr val="4D5654"/>
                </a:solidFill>
                <a:latin typeface="Aptos"/>
                <a:ea typeface="Aptos"/>
                <a:cs typeface="Aptos"/>
              </a:rPr>
              <a:t>Higher song precision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7CAEE4-33BF-4F86-98D2-ACE0E9C7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FE5235-0529-401D-9327-7FD7BF87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A5C89C-7C1C-41DF-8D5B-F68FE84E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33B151-CF73-4217-82B4-80572BE2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195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D35C96-9BB9-4FD7-8332-086CEFCF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06A00"/>
                </a:solidFill>
              </a:defRPr>
            </a:pPr>
            <a:r>
              <a:rPr sz="2550" b="1">
                <a:solidFill>
                  <a:srgbClr val="A06A0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5EA38B-BDC3-42F6-96B3-48F9818E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A1C"/>
                </a:solidFill>
              </a:defRPr>
            </a:pPr>
            <a:r>
              <a:rPr sz="1200" b="0">
                <a:solidFill>
                  <a:srgbClr val="151A1C"/>
                </a:solidFill>
                <a:latin typeface="Aptos"/>
                <a:ea typeface="Aptos"/>
                <a:cs typeface="Aptos"/>
              </a:rPr>
              <a:t>Add person/phone detection + camera-motion compensation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33DA50-29D2-4160-A1E3-021A3C74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4"/>
                </a:solidFill>
              </a:defRPr>
            </a:pPr>
            <a:r>
              <a:rPr sz="750" b="0">
                <a:solidFill>
                  <a:srgbClr val="4D5654"/>
                </a:solidFill>
                <a:latin typeface="Aptos"/>
                <a:ea typeface="Aptos"/>
                <a:cs typeface="Aptos"/>
              </a:rPr>
              <a:t>More stable engagement signal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798F6E-5E9B-439E-B32B-E1EDDFED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C9D2C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87954D-421E-4578-B79F-95EAD418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8F9C9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07BC95-6CF3-4867-993D-350C03BD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2E980A-6948-4EE7-8799-2300C02C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195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1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FAE233-F225-407C-B3EB-88EE4663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2415D"/>
                </a:solidFill>
              </a:defRPr>
            </a:pPr>
            <a:r>
              <a:rPr sz="2550" b="1">
                <a:solidFill>
                  <a:srgbClr val="C2415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B253BD-0426-4197-ADBA-8F2D8FC6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A1C"/>
                </a:solidFill>
              </a:defRPr>
            </a:pPr>
            <a:r>
              <a:rPr sz="1200" b="0">
                <a:solidFill>
                  <a:srgbClr val="151A1C"/>
                </a:solidFill>
                <a:latin typeface="Aptos"/>
                <a:ea typeface="Aptos"/>
                <a:cs typeface="Aptos"/>
              </a:rPr>
              <a:t>Generalize to sports, concerts, and brand activations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2BB4D5-6C85-4CF2-BDEA-983096BC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4"/>
                </a:solidFill>
              </a:defRPr>
            </a:pPr>
            <a:r>
              <a:rPr sz="750" b="0">
                <a:solidFill>
                  <a:srgbClr val="4D5654"/>
                </a:solidFill>
                <a:latin typeface="Aptos"/>
                <a:ea typeface="Aptos"/>
                <a:cs typeface="Aptos"/>
              </a:rPr>
              <a:t>Broader emotional-intelligence platform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F7636B-AAF6-43E5-A4CE-AC05E0C5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D5654"/>
                </a:solidFill>
              </a:defRPr>
            </a:pPr>
            <a:r>
              <a:rPr sz="750" b="0">
                <a:solidFill>
                  <a:srgbClr val="4D5654"/>
                </a:solidFill>
                <a:latin typeface="Aptos"/>
                <a:ea typeface="Aptos"/>
                <a:cs typeface="Aptos"/>
              </a:rPr>
              <a:t>Editable PowerPoint deck: copy, cards, metrics, signal marks, and demo frame.</a:t>
            </a:r>
          </a:p>
        </p:txBody>
      </p:sp>
    </p:spTree>
    <p:extLst>
      <p:ext uri="{BB962C8B-B14F-4D97-AF65-F5344CB8AC3E}">
        <p14:creationId xmlns:p14="http://schemas.microsoft.com/office/powerpoint/2010/main" val="1822058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2026-04-29T05:00:53.4120000Z</dcterms:created>
  <dcterms:modified xsi:type="dcterms:W3CDTF">2026-04-29T05:00:53.4120000Z</dcterms:modified>
</coreProperties>
</file>